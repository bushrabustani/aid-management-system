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83" r:id="rId8"/>
    <p:sldId id="276" r:id="rId9"/>
    <p:sldId id="263" r:id="rId10"/>
    <p:sldId id="277" r:id="rId11"/>
    <p:sldId id="279" r:id="rId12"/>
    <p:sldId id="278" r:id="rId13"/>
    <p:sldId id="280" r:id="rId14"/>
    <p:sldId id="269" r:id="rId15"/>
    <p:sldId id="266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78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shra Bustani" userId="d06d127f-1a37-495b-b32e-71ddb50e168b" providerId="ADAL" clId="{5338A266-F9F8-4C64-BB35-553023DEE5FC}"/>
    <pc:docChg chg="undo custSel delSld modSld sldOrd">
      <pc:chgData name="Bushra Bustani" userId="d06d127f-1a37-495b-b32e-71ddb50e168b" providerId="ADAL" clId="{5338A266-F9F8-4C64-BB35-553023DEE5FC}" dt="2026-06-22T14:32:41.716" v="76" actId="1076"/>
      <pc:docMkLst>
        <pc:docMk/>
      </pc:docMkLst>
      <pc:sldChg chg="modSp mod">
        <pc:chgData name="Bushra Bustani" userId="d06d127f-1a37-495b-b32e-71ddb50e168b" providerId="ADAL" clId="{5338A266-F9F8-4C64-BB35-553023DEE5FC}" dt="2026-06-22T14:22:42.190" v="5" actId="403"/>
        <pc:sldMkLst>
          <pc:docMk/>
          <pc:sldMk cId="0" sldId="256"/>
        </pc:sldMkLst>
        <pc:spChg chg="mod">
          <ac:chgData name="Bushra Bustani" userId="d06d127f-1a37-495b-b32e-71ddb50e168b" providerId="ADAL" clId="{5338A266-F9F8-4C64-BB35-553023DEE5FC}" dt="2026-06-22T14:22:31.619" v="3" actId="403"/>
          <ac:spMkLst>
            <pc:docMk/>
            <pc:sldMk cId="0" sldId="256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2:39.468" v="4" actId="403"/>
          <ac:spMkLst>
            <pc:docMk/>
            <pc:sldMk cId="0" sldId="256"/>
            <ac:spMk id="2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2:42.190" v="5" actId="403"/>
          <ac:spMkLst>
            <pc:docMk/>
            <pc:sldMk cId="0" sldId="256"/>
            <ac:spMk id="24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23:01.533" v="7" actId="403"/>
        <pc:sldMkLst>
          <pc:docMk/>
          <pc:sldMk cId="0" sldId="258"/>
        </pc:sldMkLst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2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01.533" v="7" actId="403"/>
          <ac:spMkLst>
            <pc:docMk/>
            <pc:sldMk cId="0" sldId="258"/>
            <ac:spMk id="26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23:49.406" v="16" actId="1038"/>
        <pc:sldMkLst>
          <pc:docMk/>
          <pc:sldMk cId="0" sldId="259"/>
        </pc:sldMkLst>
        <pc:spChg chg="mod">
          <ac:chgData name="Bushra Bustani" userId="d06d127f-1a37-495b-b32e-71ddb50e168b" providerId="ADAL" clId="{5338A266-F9F8-4C64-BB35-553023DEE5FC}" dt="2026-06-22T14:23:28.858" v="13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33.040" v="14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18.975" v="12" actId="40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18.975" v="12" actId="40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2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3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18.975" v="12" actId="404"/>
          <ac:spMkLst>
            <pc:docMk/>
            <pc:sldMk cId="0" sldId="259"/>
            <ac:spMk id="3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3:49.406" v="16" actId="1038"/>
          <ac:spMkLst>
            <pc:docMk/>
            <pc:sldMk cId="0" sldId="259"/>
            <ac:spMk id="46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24:22.913" v="25" actId="1076"/>
        <pc:sldMkLst>
          <pc:docMk/>
          <pc:sldMk cId="0" sldId="260"/>
        </pc:sldMkLst>
        <pc:spChg chg="mod">
          <ac:chgData name="Bushra Bustani" userId="d06d127f-1a37-495b-b32e-71ddb50e168b" providerId="ADAL" clId="{5338A266-F9F8-4C64-BB35-553023DEE5FC}" dt="2026-06-22T14:23:57.051" v="1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4:22.913" v="25" actId="1076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30:30.649" v="42" actId="14100"/>
        <pc:sldMkLst>
          <pc:docMk/>
          <pc:sldMk cId="0" sldId="263"/>
        </pc:sldMkLst>
        <pc:spChg chg="mod">
          <ac:chgData name="Bushra Bustani" userId="d06d127f-1a37-495b-b32e-71ddb50e168b" providerId="ADAL" clId="{5338A266-F9F8-4C64-BB35-553023DEE5FC}" dt="2026-06-22T14:30:05.719" v="36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9:55.199" v="34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22.240" v="40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1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27.560" v="41" actId="14100"/>
          <ac:spMkLst>
            <pc:docMk/>
            <pc:sldMk cId="0" sldId="263"/>
            <ac:spMk id="1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1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30.649" v="42" actId="1410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17.044" v="39" actId="40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09.521" v="37" actId="403"/>
          <ac:spMkLst>
            <pc:docMk/>
            <pc:sldMk cId="0" sldId="263"/>
            <ac:spMk id="2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09.521" v="37" actId="403"/>
          <ac:spMkLst>
            <pc:docMk/>
            <pc:sldMk cId="0" sldId="263"/>
            <ac:spMk id="2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09.521" v="37" actId="403"/>
          <ac:spMkLst>
            <pc:docMk/>
            <pc:sldMk cId="0" sldId="263"/>
            <ac:spMk id="2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09.521" v="37" actId="403"/>
          <ac:spMkLst>
            <pc:docMk/>
            <pc:sldMk cId="0" sldId="263"/>
            <ac:spMk id="3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09.521" v="37" actId="403"/>
          <ac:spMkLst>
            <pc:docMk/>
            <pc:sldMk cId="0" sldId="263"/>
            <ac:spMk id="3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09.521" v="37" actId="403"/>
          <ac:spMkLst>
            <pc:docMk/>
            <pc:sldMk cId="0" sldId="263"/>
            <ac:spMk id="32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31:50.930" v="68" actId="403"/>
        <pc:sldMkLst>
          <pc:docMk/>
          <pc:sldMk cId="0" sldId="266"/>
        </pc:sldMkLst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1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1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2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2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2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3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50.930" v="68" actId="403"/>
          <ac:spMkLst>
            <pc:docMk/>
            <pc:sldMk cId="0" sldId="266"/>
            <ac:spMk id="34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32:12.170" v="71" actId="1076"/>
        <pc:sldMkLst>
          <pc:docMk/>
          <pc:sldMk cId="0" sldId="267"/>
        </pc:sldMkLst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01.821" v="70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01.821" v="70" actId="403"/>
          <ac:spMkLst>
            <pc:docMk/>
            <pc:sldMk cId="0" sldId="267"/>
            <ac:spMk id="1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01.821" v="70" actId="403"/>
          <ac:spMkLst>
            <pc:docMk/>
            <pc:sldMk cId="0" sldId="267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01.821" v="70" actId="403"/>
          <ac:spMkLst>
            <pc:docMk/>
            <pc:sldMk cId="0" sldId="267"/>
            <ac:spMk id="2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2:12.170" v="71" actId="1076"/>
          <ac:spMkLst>
            <pc:docMk/>
            <pc:sldMk cId="0" sldId="267"/>
            <ac:spMk id="25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32:41.716" v="76" actId="1076"/>
        <pc:sldMkLst>
          <pc:docMk/>
          <pc:sldMk cId="0" sldId="268"/>
        </pc:sldMkLst>
        <pc:grpChg chg="mod">
          <ac:chgData name="Bushra Bustani" userId="d06d127f-1a37-495b-b32e-71ddb50e168b" providerId="ADAL" clId="{5338A266-F9F8-4C64-BB35-553023DEE5FC}" dt="2026-06-22T14:32:41.716" v="76" actId="1076"/>
          <ac:grpSpMkLst>
            <pc:docMk/>
            <pc:sldMk cId="0" sldId="268"/>
            <ac:grpSpMk id="14" creationId="{CDA45793-3F02-80A2-CC71-229BBA0E39E5}"/>
          </ac:grpSpMkLst>
        </pc:grpChg>
      </pc:sldChg>
      <pc:sldChg chg="modSp mod">
        <pc:chgData name="Bushra Bustani" userId="d06d127f-1a37-495b-b32e-71ddb50e168b" providerId="ADAL" clId="{5338A266-F9F8-4C64-BB35-553023DEE5FC}" dt="2026-06-22T14:31:42.638" v="67" actId="403"/>
        <pc:sldMkLst>
          <pc:docMk/>
          <pc:sldMk cId="0" sldId="269"/>
        </pc:sldMkLst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1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2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2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3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42.638" v="67" actId="403"/>
          <ac:spMkLst>
            <pc:docMk/>
            <pc:sldMk cId="0" sldId="269"/>
            <ac:spMk id="44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25:00.168" v="29" actId="403"/>
        <pc:sldMkLst>
          <pc:docMk/>
          <pc:sldMk cId="1555464434" sldId="273"/>
        </pc:sldMkLst>
        <pc:spChg chg="mod">
          <ac:chgData name="Bushra Bustani" userId="d06d127f-1a37-495b-b32e-71ddb50e168b" providerId="ADAL" clId="{5338A266-F9F8-4C64-BB35-553023DEE5FC}" dt="2026-06-22T14:24:36.409" v="26" actId="403"/>
          <ac:spMkLst>
            <pc:docMk/>
            <pc:sldMk cId="1555464434" sldId="273"/>
            <ac:spMk id="10" creationId="{0AFA05F3-5BCC-2B3E-9D6E-62CBFD10CB2B}"/>
          </ac:spMkLst>
        </pc:spChg>
        <pc:spChg chg="mod">
          <ac:chgData name="Bushra Bustani" userId="d06d127f-1a37-495b-b32e-71ddb50e168b" providerId="ADAL" clId="{5338A266-F9F8-4C64-BB35-553023DEE5FC}" dt="2026-06-22T14:24:44.015" v="27" actId="403"/>
          <ac:spMkLst>
            <pc:docMk/>
            <pc:sldMk cId="1555464434" sldId="273"/>
            <ac:spMk id="11" creationId="{B772273D-4E8F-B80C-1E4F-A681E8C81059}"/>
          </ac:spMkLst>
        </pc:spChg>
        <pc:spChg chg="mod">
          <ac:chgData name="Bushra Bustani" userId="d06d127f-1a37-495b-b32e-71ddb50e168b" providerId="ADAL" clId="{5338A266-F9F8-4C64-BB35-553023DEE5FC}" dt="2026-06-22T14:25:00.168" v="29" actId="403"/>
          <ac:spMkLst>
            <pc:docMk/>
            <pc:sldMk cId="1555464434" sldId="273"/>
            <ac:spMk id="12" creationId="{9B379673-3730-368C-FA7E-BB1715D79637}"/>
          </ac:spMkLst>
        </pc:spChg>
        <pc:spChg chg="mod">
          <ac:chgData name="Bushra Bustani" userId="d06d127f-1a37-495b-b32e-71ddb50e168b" providerId="ADAL" clId="{5338A266-F9F8-4C64-BB35-553023DEE5FC}" dt="2026-06-22T14:24:36.409" v="26" actId="403"/>
          <ac:spMkLst>
            <pc:docMk/>
            <pc:sldMk cId="1555464434" sldId="273"/>
            <ac:spMk id="17" creationId="{E337B706-31A8-AC3C-16C8-B9A931E3DA58}"/>
          </ac:spMkLst>
        </pc:spChg>
        <pc:spChg chg="mod">
          <ac:chgData name="Bushra Bustani" userId="d06d127f-1a37-495b-b32e-71ddb50e168b" providerId="ADAL" clId="{5338A266-F9F8-4C64-BB35-553023DEE5FC}" dt="2026-06-22T14:24:44.015" v="27" actId="403"/>
          <ac:spMkLst>
            <pc:docMk/>
            <pc:sldMk cId="1555464434" sldId="273"/>
            <ac:spMk id="18" creationId="{A710CAE1-61FB-AB33-3813-7E26848A9F1E}"/>
          </ac:spMkLst>
        </pc:spChg>
        <pc:spChg chg="mod">
          <ac:chgData name="Bushra Bustani" userId="d06d127f-1a37-495b-b32e-71ddb50e168b" providerId="ADAL" clId="{5338A266-F9F8-4C64-BB35-553023DEE5FC}" dt="2026-06-22T14:25:00.168" v="29" actId="403"/>
          <ac:spMkLst>
            <pc:docMk/>
            <pc:sldMk cId="1555464434" sldId="273"/>
            <ac:spMk id="19" creationId="{EF9E7D44-D3D9-1021-B30A-AA246B80CF35}"/>
          </ac:spMkLst>
        </pc:spChg>
        <pc:spChg chg="mod">
          <ac:chgData name="Bushra Bustani" userId="d06d127f-1a37-495b-b32e-71ddb50e168b" providerId="ADAL" clId="{5338A266-F9F8-4C64-BB35-553023DEE5FC}" dt="2026-06-22T14:24:36.409" v="26" actId="403"/>
          <ac:spMkLst>
            <pc:docMk/>
            <pc:sldMk cId="1555464434" sldId="273"/>
            <ac:spMk id="24" creationId="{F4F34C86-01D1-7248-61EB-01034B725B4E}"/>
          </ac:spMkLst>
        </pc:spChg>
        <pc:spChg chg="mod">
          <ac:chgData name="Bushra Bustani" userId="d06d127f-1a37-495b-b32e-71ddb50e168b" providerId="ADAL" clId="{5338A266-F9F8-4C64-BB35-553023DEE5FC}" dt="2026-06-22T14:24:44.015" v="27" actId="403"/>
          <ac:spMkLst>
            <pc:docMk/>
            <pc:sldMk cId="1555464434" sldId="273"/>
            <ac:spMk id="25" creationId="{74744725-41DF-BBF4-967E-9B0400D75097}"/>
          </ac:spMkLst>
        </pc:spChg>
        <pc:spChg chg="mod">
          <ac:chgData name="Bushra Bustani" userId="d06d127f-1a37-495b-b32e-71ddb50e168b" providerId="ADAL" clId="{5338A266-F9F8-4C64-BB35-553023DEE5FC}" dt="2026-06-22T14:25:00.168" v="29" actId="403"/>
          <ac:spMkLst>
            <pc:docMk/>
            <pc:sldMk cId="1555464434" sldId="273"/>
            <ac:spMk id="26" creationId="{55629FE0-D276-638E-302C-CDCC5EB24879}"/>
          </ac:spMkLst>
        </pc:spChg>
      </pc:sldChg>
      <pc:sldChg chg="del">
        <pc:chgData name="Bushra Bustani" userId="d06d127f-1a37-495b-b32e-71ddb50e168b" providerId="ADAL" clId="{5338A266-F9F8-4C64-BB35-553023DEE5FC}" dt="2026-06-22T14:14:39.343" v="0" actId="47"/>
        <pc:sldMkLst>
          <pc:docMk/>
          <pc:sldMk cId="0" sldId="275"/>
        </pc:sldMkLst>
      </pc:sldChg>
      <pc:sldChg chg="modSp mod">
        <pc:chgData name="Bushra Bustani" userId="d06d127f-1a37-495b-b32e-71ddb50e168b" providerId="ADAL" clId="{5338A266-F9F8-4C64-BB35-553023DEE5FC}" dt="2026-06-22T14:25:19.622" v="33" actId="403"/>
        <pc:sldMkLst>
          <pc:docMk/>
          <pc:sldMk cId="0" sldId="276"/>
        </pc:sldMkLst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1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1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3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3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4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4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4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4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9.622" v="33" actId="403"/>
          <ac:spMkLst>
            <pc:docMk/>
            <pc:sldMk cId="0" sldId="276"/>
            <ac:spMk id="52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31:17.608" v="60" actId="403"/>
        <pc:sldMkLst>
          <pc:docMk/>
          <pc:sldMk cId="0" sldId="278"/>
        </pc:sldMkLst>
        <pc:spChg chg="mod">
          <ac:chgData name="Bushra Bustani" userId="d06d127f-1a37-495b-b32e-71ddb50e168b" providerId="ADAL" clId="{5338A266-F9F8-4C64-BB35-553023DEE5FC}" dt="2026-06-22T14:31:12.780" v="57" actId="1076"/>
          <ac:spMkLst>
            <pc:docMk/>
            <pc:sldMk cId="0" sldId="278"/>
            <ac:spMk id="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1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1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1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1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2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2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2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17.608" v="60" actId="403"/>
          <ac:spMkLst>
            <pc:docMk/>
            <pc:sldMk cId="0" sldId="278"/>
            <ac:spMk id="28" creationId="{00000000-0000-0000-0000-000000000000}"/>
          </ac:spMkLst>
        </pc:spChg>
      </pc:sldChg>
      <pc:sldChg chg="modSp mod ord">
        <pc:chgData name="Bushra Bustani" userId="d06d127f-1a37-495b-b32e-71ddb50e168b" providerId="ADAL" clId="{5338A266-F9F8-4C64-BB35-553023DEE5FC}" dt="2026-06-22T14:30:58.876" v="54" actId="404"/>
        <pc:sldMkLst>
          <pc:docMk/>
          <pc:sldMk cId="0" sldId="279"/>
        </pc:sldMkLst>
        <pc:spChg chg="mod">
          <ac:chgData name="Bushra Bustani" userId="d06d127f-1a37-495b-b32e-71ddb50e168b" providerId="ADAL" clId="{5338A266-F9F8-4C64-BB35-553023DEE5FC}" dt="2026-06-22T14:30:39.854" v="46" actId="1076"/>
          <ac:spMkLst>
            <pc:docMk/>
            <pc:sldMk cId="0" sldId="279"/>
            <ac:spMk id="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1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1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1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16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1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1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21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22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2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0:58.876" v="54" actId="404"/>
          <ac:spMkLst>
            <pc:docMk/>
            <pc:sldMk cId="0" sldId="279"/>
            <ac:spMk id="25" creationId="{00000000-0000-0000-0000-000000000000}"/>
          </ac:spMkLst>
        </pc:spChg>
      </pc:sldChg>
      <pc:sldChg chg="modSp mod">
        <pc:chgData name="Bushra Bustani" userId="d06d127f-1a37-495b-b32e-71ddb50e168b" providerId="ADAL" clId="{5338A266-F9F8-4C64-BB35-553023DEE5FC}" dt="2026-06-22T14:31:36.358" v="65" actId="403"/>
        <pc:sldMkLst>
          <pc:docMk/>
          <pc:sldMk cId="0" sldId="280"/>
        </pc:sldMkLst>
        <pc:spChg chg="mod">
          <ac:chgData name="Bushra Bustani" userId="d06d127f-1a37-495b-b32e-71ddb50e168b" providerId="ADAL" clId="{5338A266-F9F8-4C64-BB35-553023DEE5FC}" dt="2026-06-22T14:31:36.358" v="65" actId="403"/>
          <ac:spMkLst>
            <pc:docMk/>
            <pc:sldMk cId="0" sldId="280"/>
            <ac:spMk id="1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1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1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1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18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19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20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23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24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25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31:25.703" v="62" actId="403"/>
          <ac:spMkLst>
            <pc:docMk/>
            <pc:sldMk cId="0" sldId="280"/>
            <ac:spMk id="27" creationId="{00000000-0000-0000-0000-000000000000}"/>
          </ac:spMkLst>
        </pc:spChg>
      </pc:sldChg>
      <pc:sldChg chg="del">
        <pc:chgData name="Bushra Bustani" userId="d06d127f-1a37-495b-b32e-71ddb50e168b" providerId="ADAL" clId="{5338A266-F9F8-4C64-BB35-553023DEE5FC}" dt="2026-06-22T14:32:20.216" v="72" actId="47"/>
        <pc:sldMkLst>
          <pc:docMk/>
          <pc:sldMk cId="2383024355" sldId="281"/>
        </pc:sldMkLst>
      </pc:sldChg>
      <pc:sldChg chg="modSp mod">
        <pc:chgData name="Bushra Bustani" userId="d06d127f-1a37-495b-b32e-71ddb50e168b" providerId="ADAL" clId="{5338A266-F9F8-4C64-BB35-553023DEE5FC}" dt="2026-06-22T14:25:12.557" v="31" actId="404"/>
        <pc:sldMkLst>
          <pc:docMk/>
          <pc:sldMk cId="0" sldId="283"/>
        </pc:sldMkLst>
        <pc:spChg chg="mod">
          <ac:chgData name="Bushra Bustani" userId="d06d127f-1a37-495b-b32e-71ddb50e168b" providerId="ADAL" clId="{5338A266-F9F8-4C64-BB35-553023DEE5FC}" dt="2026-06-22T14:25:12.557" v="31" actId="404"/>
          <ac:spMkLst>
            <pc:docMk/>
            <pc:sldMk cId="0" sldId="283"/>
            <ac:spMk id="67" creationId="{00000000-0000-0000-0000-000000000000}"/>
          </ac:spMkLst>
        </pc:spChg>
        <pc:spChg chg="mod">
          <ac:chgData name="Bushra Bustani" userId="d06d127f-1a37-495b-b32e-71ddb50e168b" providerId="ADAL" clId="{5338A266-F9F8-4C64-BB35-553023DEE5FC}" dt="2026-06-22T14:25:12.557" v="31" actId="404"/>
          <ac:spMkLst>
            <pc:docMk/>
            <pc:sldMk cId="0" sldId="283"/>
            <ac:spMk id="6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65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2818-503B-8B9C-28EE-1B940C8A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5D78B-1117-20AB-FFD2-F40EA35BD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48118-EC0D-868D-DE01-F621161CC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8CCCD-AAD2-CECA-866D-915E054C9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241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3200400"/>
            <a:ext cx="1828800" cy="1828800"/>
          </a:xfrm>
          <a:prstGeom prst="ellipse">
            <a:avLst/>
          </a:prstGeom>
          <a:solidFill>
            <a:srgbClr val="1B6CA8">
              <a:alpha val="12000"/>
            </a:srgbClr>
          </a:solidFill>
          <a:ln w="12700">
            <a:solidFill>
              <a:srgbClr val="1B6CA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9728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28816" y="1042416"/>
            <a:ext cx="274320" cy="274320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82880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1776" y="1773936"/>
            <a:ext cx="274320" cy="274320"/>
          </a:xfrm>
          <a:prstGeom prst="ellipse">
            <a:avLst/>
          </a:prstGeom>
          <a:solidFill>
            <a:srgbClr val="F39C12">
              <a:alpha val="30000"/>
            </a:srgbClr>
          </a:solidFill>
          <a:ln w="12700">
            <a:solidFill>
              <a:srgbClr val="F39C12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37160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74736" y="1316736"/>
            <a:ext cx="274320" cy="274320"/>
          </a:xfrm>
          <a:prstGeom prst="ellipse">
            <a:avLst/>
          </a:prstGeom>
          <a:solidFill>
            <a:srgbClr val="E74C3C">
              <a:alpha val="30000"/>
            </a:srgbClr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74320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77456" y="2688336"/>
            <a:ext cx="274320" cy="274320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320040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3145536"/>
            <a:ext cx="274320" cy="274320"/>
          </a:xfrm>
          <a:prstGeom prst="ellipse">
            <a:avLst/>
          </a:prstGeom>
          <a:solidFill>
            <a:srgbClr val="F39C12">
              <a:alpha val="30000"/>
            </a:srgbClr>
          </a:solidFill>
          <a:ln w="12700">
            <a:solidFill>
              <a:srgbClr val="F39C12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56032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2505456"/>
            <a:ext cx="274320" cy="274320"/>
          </a:xfrm>
          <a:prstGeom prst="ellipse">
            <a:avLst/>
          </a:prstGeom>
          <a:solidFill>
            <a:srgbClr val="E74C3C">
              <a:alpha val="30000"/>
            </a:srgbClr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48640"/>
            <a:ext cx="5943600" cy="4023360"/>
          </a:xfrm>
          <a:prstGeom prst="roundRect">
            <a:avLst>
              <a:gd name="adj" fmla="val 409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80467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6CA8">
              <a:alpha val="80000"/>
            </a:srgbClr>
          </a:solidFill>
          <a:ln w="12700">
            <a:solidFill>
              <a:srgbClr val="1B6CA8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🎓  Bitirme Projesi ·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" y="118872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DESTEKLİ İNSANİ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YARDIM YÖNETİM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SİSTEMİ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" y="3246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Humanitarian Aid Management System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703320"/>
            <a:ext cx="53035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22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Bushra BUSTANI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170419929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133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</a:t>
            </a: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Ali BULDU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1554480"/>
            <a:ext cx="1280160" cy="128016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572768"/>
            <a:ext cx="12801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🤝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Üniversitesi  ·  Teknoloji Fakültesi  ·  Bilgisayar Mühendisliği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Akışı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0" y="164592"/>
            <a:ext cx="594360" cy="274320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645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B6CA8"/>
                </a:solidFill>
              </a:rPr>
              <a:t>GENEL BAKIŞ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149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74C3C">
              <a:alpha val="85000"/>
            </a:srgbClr>
          </a:solidFill>
          <a:ln w="12700">
            <a:solidFill>
              <a:srgbClr val="E74C3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14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10332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Motivasyon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196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18379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 ve Kapsamı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78024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24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26426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Rolleri ve Senaryo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29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9C12">
              <a:alpha val="85000"/>
            </a:srgbClr>
          </a:solidFill>
          <a:ln w="12700">
            <a:solidFill>
              <a:srgbClr val="F39C12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344728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 ve İş Akışı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336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AE60">
              <a:alpha val="85000"/>
            </a:srgbClr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425196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Yığını ve Veritabanı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0149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014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10332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Entegrasyonu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673352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8196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18379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Görüntüleri (Demo)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478024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624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6366F1">
              <a:alpha val="85000"/>
            </a:srgbClr>
          </a:solidFill>
          <a:ln w="12700">
            <a:solidFill>
              <a:srgbClr val="6366F1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21808" y="26426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 Sonuçlar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328269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429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9C12">
              <a:alpha val="85000"/>
            </a:srgbClr>
          </a:solidFill>
          <a:ln w="12700">
            <a:solidFill>
              <a:srgbClr val="F39C12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344728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Zorluklar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408736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42336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7AE60">
              <a:alpha val="85000"/>
            </a:srgbClr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21808" y="425196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ve Teşekkür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Motivasyon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yardım süreçleri manuel yönetimde kritik sorunlar yaratmaktadır.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307592"/>
            <a:ext cx="502920" cy="502920"/>
          </a:xfrm>
          <a:prstGeom prst="ellipse">
            <a:avLst/>
          </a:prstGeom>
          <a:solidFill>
            <a:srgbClr val="E74C3C">
              <a:alpha val="85000"/>
            </a:srgbClr>
          </a:solidFill>
          <a:ln w="12700">
            <a:solidFill>
              <a:srgbClr val="E74C3C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1344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Kayıtlar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189280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Yararlanıcı verilerinin farklı ortamlarda düzensiz tutulması, mükerrer kayıtlar ve veri kaybı riski.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307592"/>
            <a:ext cx="502920" cy="502920"/>
          </a:xfrm>
          <a:prstGeom prst="ellipse">
            <a:avLst/>
          </a:prstGeom>
          <a:solidFill>
            <a:srgbClr val="F39C12">
              <a:alpha val="85000"/>
            </a:srgbClr>
          </a:solidFill>
          <a:ln w="12700">
            <a:solidFill>
              <a:srgbClr val="F39C12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1344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Kontrolsüzlüğü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82312" y="189280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envanterin anlık takibinin yapılamaması ve kaynakların verimsiz kullanılması.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2999232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3035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Önceliklendirme Eksikliği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" y="358444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yardım kaynaklarının ihtiyaç sahiplerine objektif kriterlerle ulaştırılamaması.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8346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2999232"/>
            <a:ext cx="502920" cy="502920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94960" y="3035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İzlenebilirlik ve Şeffaflık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82312" y="358444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geçmişinin kayıt altına alınamaması sebebiyle denetim mekanizmasının çalışmaması.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 ve Kapsamı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35240" y="16459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6CA8">
              <a:alpha val="8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AMAÇ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73017" y="1151709"/>
            <a:ext cx="3931920" cy="3511731"/>
          </a:xfrm>
          <a:prstGeom prst="roundRect">
            <a:avLst>
              <a:gd name="adj" fmla="val 3256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53577" y="1124277"/>
            <a:ext cx="3931920" cy="3539163"/>
          </a:xfrm>
          <a:prstGeom prst="roundRect">
            <a:avLst>
              <a:gd name="adj" fmla="val 3256"/>
            </a:avLst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5897" y="1288869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Manuel Süreç — Kaos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36457" y="1288869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Dijital Sistem — Düzen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1617" y="1837509"/>
            <a:ext cx="201168" cy="201168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17" y="183750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</a:rPr>
              <a:t>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21657" y="181922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ve hatalı kayıtlar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617" y="2386149"/>
            <a:ext cx="201168" cy="201168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17" y="238614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</a:rPr>
              <a:t>✗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1657" y="236786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takibi yapılamıyor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1617" y="2934789"/>
            <a:ext cx="201168" cy="201168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17" y="293478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</a:rPr>
              <a:t>✗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1657" y="291650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belirlenemiyor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1617" y="3483429"/>
            <a:ext cx="201168" cy="201168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17" y="348342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</a:rPr>
              <a:t>✗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1657" y="346514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izlenemiyor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1617" y="4032069"/>
            <a:ext cx="201168" cy="201168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17" y="403206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</a:rPr>
              <a:t>✗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1657" y="401378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Şeffaflık ve denetim yok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82177" y="1837509"/>
            <a:ext cx="201168" cy="201168"/>
          </a:xfrm>
          <a:prstGeom prst="ellipse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2177" y="183750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</a:rPr>
              <a:t>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02217" y="181922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yararlanıcı yönetimi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82177" y="2386149"/>
            <a:ext cx="201168" cy="201168"/>
          </a:xfrm>
          <a:prstGeom prst="ellipse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2177" y="238614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02217" y="236786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envanter takibi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82177" y="2934789"/>
            <a:ext cx="201168" cy="201168"/>
          </a:xfrm>
          <a:prstGeom prst="ellipse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2177" y="293478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</a:rPr>
              <a:t>✓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02217" y="291650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önceliklendirme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82177" y="3483429"/>
            <a:ext cx="201168" cy="201168"/>
          </a:xfrm>
          <a:prstGeom prst="ellipse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2177" y="348342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</a:rPr>
              <a:t>✓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02217" y="346514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kayıt ve geçmiş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82177" y="4032069"/>
            <a:ext cx="201168" cy="201168"/>
          </a:xfrm>
          <a:prstGeom prst="ellipse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82177" y="403206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</a:rPr>
              <a:t>✓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02217" y="401378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 onay mekanizması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7297" y="5037909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33537" y="5037909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36657" y="5037909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Rolleri ve Senaryolar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16459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0" y="1645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ROLLER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023360" cy="416052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0" y="914400"/>
            <a:ext cx="1463040" cy="1463040"/>
          </a:xfrm>
          <a:prstGeom prst="ellipse">
            <a:avLst/>
          </a:prstGeom>
          <a:solidFill>
            <a:srgbClr val="1B6CA8">
              <a:alpha val="9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🔑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Yararlanıcı ekleme ve yönetimi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Envanter takibi ve güncelleme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Dağıtım kaydı oluşturma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öncelik analizi görüntüleme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Dashboard ve raporlama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749808"/>
            <a:ext cx="4023360" cy="416052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14400"/>
            <a:ext cx="1463040" cy="146304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🔍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937760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97180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İnceleme bekleyen vakaları görme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33756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analiz özetini inceleme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Onay / Red kararı verme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406908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Yeniden değerlendirme başlatma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44348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Tamamlanan denetimleri takip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66089-62BF-2571-4751-AD80E5E6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29253E-6AB2-9808-3AFC-7A9F149B2F3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FAC5CF-BA30-8E61-A110-2D651E99F54B}"/>
              </a:ext>
            </a:extLst>
          </p:cNvPr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270C2F-2AA5-A258-B6F9-C91D3B20F772}"/>
              </a:ext>
            </a:extLst>
          </p:cNvPr>
          <p:cNvSpPr/>
          <p:nvPr/>
        </p:nvSpPr>
        <p:spPr>
          <a:xfrm>
            <a:off x="7635240" y="16459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303B17-D0C8-EA5D-EE75-47FD7B4C58E4}"/>
              </a:ext>
            </a:extLst>
          </p:cNvPr>
          <p:cNvSpPr/>
          <p:nvPr/>
        </p:nvSpPr>
        <p:spPr>
          <a:xfrm>
            <a:off x="763524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MİMARİ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0284AC-AC9C-C328-454D-317F3BCA530F}"/>
              </a:ext>
            </a:extLst>
          </p:cNvPr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Üç katmanlı, modüler mimari yapısı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6EAC640-BAA7-1170-65E0-A7AF0F063A88}"/>
              </a:ext>
            </a:extLst>
          </p:cNvPr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24138C4-47F2-1532-7413-0D0A02735AA7}"/>
              </a:ext>
            </a:extLst>
          </p:cNvPr>
          <p:cNvSpPr/>
          <p:nvPr/>
        </p:nvSpPr>
        <p:spPr>
          <a:xfrm>
            <a:off x="685800" y="1440180"/>
            <a:ext cx="548640" cy="548640"/>
          </a:xfrm>
          <a:prstGeom prst="ellipse">
            <a:avLst/>
          </a:prstGeom>
          <a:solidFill>
            <a:srgbClr val="1B6CA8">
              <a:alpha val="87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53D7BE-F5B6-8004-C53B-C76D9B2C9D41}"/>
              </a:ext>
            </a:extLst>
          </p:cNvPr>
          <p:cNvSpPr/>
          <p:nvPr/>
        </p:nvSpPr>
        <p:spPr>
          <a:xfrm>
            <a:off x="685800" y="14401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🖥️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AFA05F3-5BCC-2B3E-9D6E-62CBFD10CB2B}"/>
              </a:ext>
            </a:extLst>
          </p:cNvPr>
          <p:cNvSpPr/>
          <p:nvPr/>
        </p:nvSpPr>
        <p:spPr>
          <a:xfrm>
            <a:off x="1463040" y="1335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Arayüz Katmanı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772273D-4E8F-B80C-1E4F-A681E8C81059}"/>
              </a:ext>
            </a:extLst>
          </p:cNvPr>
          <p:cNvSpPr/>
          <p:nvPr/>
        </p:nvSpPr>
        <p:spPr>
          <a:xfrm>
            <a:off x="1463040" y="17190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6C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 — Admin ve Denetçi panelleri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379673-3730-368C-FA7E-BB1715D79637}"/>
              </a:ext>
            </a:extLst>
          </p:cNvPr>
          <p:cNvSpPr/>
          <p:nvPr/>
        </p:nvSpPr>
        <p:spPr>
          <a:xfrm>
            <a:off x="1463040" y="197510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etkileşimi ve görsel sunum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EAF64C-60A4-AFFA-559A-C89AC67E5F24}"/>
              </a:ext>
            </a:extLst>
          </p:cNvPr>
          <p:cNvSpPr/>
          <p:nvPr/>
        </p:nvSpPr>
        <p:spPr>
          <a:xfrm>
            <a:off x="822960" y="22219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5A9D943-A873-923D-8035-AB9CA7A434B2}"/>
              </a:ext>
            </a:extLst>
          </p:cNvPr>
          <p:cNvSpPr/>
          <p:nvPr/>
        </p:nvSpPr>
        <p:spPr>
          <a:xfrm>
            <a:off x="457200" y="24231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3B390E6-057C-D4E0-E40E-9B2929235EF1}"/>
              </a:ext>
            </a:extLst>
          </p:cNvPr>
          <p:cNvSpPr/>
          <p:nvPr/>
        </p:nvSpPr>
        <p:spPr>
          <a:xfrm>
            <a:off x="685800" y="2674620"/>
            <a:ext cx="548640" cy="548640"/>
          </a:xfrm>
          <a:prstGeom prst="ellipse">
            <a:avLst/>
          </a:prstGeom>
          <a:solidFill>
            <a:srgbClr val="8B5CF6">
              <a:alpha val="8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D256197-B826-C302-26C2-26BDAED2CF46}"/>
              </a:ext>
            </a:extLst>
          </p:cNvPr>
          <p:cNvSpPr/>
          <p:nvPr/>
        </p:nvSpPr>
        <p:spPr>
          <a:xfrm>
            <a:off x="685800" y="2674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⚙️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37B706-31A8-AC3C-16C8-B9A931E3DA58}"/>
              </a:ext>
            </a:extLst>
          </p:cNvPr>
          <p:cNvSpPr/>
          <p:nvPr/>
        </p:nvSpPr>
        <p:spPr>
          <a:xfrm>
            <a:off x="1463040" y="25694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 Katmanı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710CAE1-61FB-AB33-3813-7E26848A9F1E}"/>
              </a:ext>
            </a:extLst>
          </p:cNvPr>
          <p:cNvSpPr/>
          <p:nvPr/>
        </p:nvSpPr>
        <p:spPr>
          <a:xfrm>
            <a:off x="1463040" y="29535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Ağırlıklı Puanlama · Claude API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F9E7D44-D3D9-1021-B30A-AA246B80CF35}"/>
              </a:ext>
            </a:extLst>
          </p:cNvPr>
          <p:cNvSpPr/>
          <p:nvPr/>
        </p:nvSpPr>
        <p:spPr>
          <a:xfrm>
            <a:off x="1463040" y="320954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İş kuralları, hesaplama ve AI entegrasyonu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6AE5EE-9F86-2801-67DD-E8B1751BE46E}"/>
              </a:ext>
            </a:extLst>
          </p:cNvPr>
          <p:cNvSpPr/>
          <p:nvPr/>
        </p:nvSpPr>
        <p:spPr>
          <a:xfrm>
            <a:off x="822960" y="34564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CB23CF8-57B8-2964-6604-013108F50688}"/>
              </a:ext>
            </a:extLst>
          </p:cNvPr>
          <p:cNvSpPr/>
          <p:nvPr/>
        </p:nvSpPr>
        <p:spPr>
          <a:xfrm>
            <a:off x="457200" y="365760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67DBBAB-9462-2ADB-C157-B1D309059226}"/>
              </a:ext>
            </a:extLst>
          </p:cNvPr>
          <p:cNvSpPr/>
          <p:nvPr/>
        </p:nvSpPr>
        <p:spPr>
          <a:xfrm>
            <a:off x="685800" y="3909060"/>
            <a:ext cx="548640" cy="548640"/>
          </a:xfrm>
          <a:prstGeom prst="ellipse">
            <a:avLst/>
          </a:prstGeom>
          <a:solidFill>
            <a:srgbClr val="0D9488">
              <a:alpha val="87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2500870-0133-2A3F-4804-9B40B441FD60}"/>
              </a:ext>
            </a:extLst>
          </p:cNvPr>
          <p:cNvSpPr/>
          <p:nvPr/>
        </p:nvSpPr>
        <p:spPr>
          <a:xfrm>
            <a:off x="685800" y="39090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🗄️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F34C86-01D1-7248-61EB-01034B725B4E}"/>
              </a:ext>
            </a:extLst>
          </p:cNvPr>
          <p:cNvSpPr/>
          <p:nvPr/>
        </p:nvSpPr>
        <p:spPr>
          <a:xfrm>
            <a:off x="1463040" y="38039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 Katmanı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4744725-41DF-BBF4-967E-9B0400D75097}"/>
              </a:ext>
            </a:extLst>
          </p:cNvPr>
          <p:cNvSpPr/>
          <p:nvPr/>
        </p:nvSpPr>
        <p:spPr>
          <a:xfrm>
            <a:off x="1463040" y="41879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SQLite · Harici Veritabanı Bağlantısı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5629FE0-D276-638E-302C-CDCC5EB24879}"/>
              </a:ext>
            </a:extLst>
          </p:cNvPr>
          <p:cNvSpPr/>
          <p:nvPr/>
        </p:nvSpPr>
        <p:spPr>
          <a:xfrm>
            <a:off x="1463040" y="444398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veri saklama ve bütünlük yönetimi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46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İş Akışı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35240" y="14630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46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WORKFLOW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Başvurudan dağıtıma kadar uçtan uca süreç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6785"/>
            <a:ext cx="1207008" cy="14173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175657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756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87721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" y="1952897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60704" y="2474105"/>
            <a:ext cx="0" cy="164592"/>
          </a:xfrm>
          <a:prstGeom prst="line">
            <a:avLst/>
          </a:prstGeom>
          <a:noFill/>
          <a:ln w="19050">
            <a:solidFill>
              <a:srgbClr val="1B6CA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638697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1B6CA8">
              <a:alpha val="8000"/>
            </a:srgbClr>
          </a:solidFill>
          <a:ln w="12700">
            <a:solidFill>
              <a:srgbClr val="1B6CA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11849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7840" y="2941356"/>
            <a:ext cx="12070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Yararlanıcı bilgileri sisteme kaydedilir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65376" y="1056785"/>
            <a:ext cx="1207008" cy="14173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31136" y="1175657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1756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65376" y="1687721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01952" y="1952897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474105"/>
            <a:ext cx="0" cy="164592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865376" y="2638697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2711849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11096" y="2940485"/>
            <a:ext cx="1183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puanlama ile öncelik skoru üretilir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1056785"/>
            <a:ext cx="1207008" cy="14173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39312" y="1175657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11756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73552" y="1687721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10128" y="1952897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77056" y="2474105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73552" y="2638697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2711849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2949593"/>
            <a:ext cx="1133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skoru doğal dilde yorumlar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81728" y="1056785"/>
            <a:ext cx="1207008" cy="14173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47488" y="1175657"/>
            <a:ext cx="475488" cy="4754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11756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81728" y="1687721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18304" y="1952897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İncelemesi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85232" y="2474105"/>
            <a:ext cx="0" cy="164592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681728" y="2638697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F39C12">
              <a:alpha val="8000"/>
            </a:srgbClr>
          </a:solidFill>
          <a:ln w="12700">
            <a:solidFill>
              <a:srgbClr val="F39C12">
                <a:alpha val="5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2711849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18304" y="2949593"/>
            <a:ext cx="1133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 AI önerisini ve verileri inceler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89904" y="1056785"/>
            <a:ext cx="1207008" cy="14173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55664" y="1175657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11756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089904" y="1687721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126480" y="1952897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/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93408" y="2474105"/>
            <a:ext cx="0" cy="164592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089904" y="2638697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E74C3C">
              <a:alpha val="8000"/>
            </a:srgbClr>
          </a:solidFill>
          <a:ln w="12700">
            <a:solidFill>
              <a:srgbClr val="E74C3C">
                <a:alpha val="5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9904" y="2711849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26480" y="2949593"/>
            <a:ext cx="1133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gerekçesiyle kayıt altına alınır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0" y="1056785"/>
            <a:ext cx="1207008" cy="14173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863840" y="1175657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0" y="11756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98080" y="1687721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🚚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534656" y="1952897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101584" y="2474105"/>
            <a:ext cx="0" cy="164592"/>
          </a:xfrm>
          <a:prstGeom prst="line">
            <a:avLst/>
          </a:prstGeom>
          <a:noFill/>
          <a:ln w="19050">
            <a:solidFill>
              <a:srgbClr val="27AE60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7498080" y="2638697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27AE60">
              <a:alpha val="8000"/>
            </a:srgbClr>
          </a:solidFill>
          <a:ln w="12700">
            <a:solidFill>
              <a:srgbClr val="27AE60">
                <a:alpha val="5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2711849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📍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534656" y="2949593"/>
            <a:ext cx="1133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Onaylı yararlanıcıya teslimat yapılır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41605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" y="425196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Yeniden Değerlendirme: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Reddedilen başvurular, koşulların değişmesi durumunda denetçi tarafından yeniden 4. aşamaya alınabilir.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85800" y="459028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Kesintisiz Çalışma: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aşamada API erişimi yoksa, sistem otomatik olarak yerel Smart Fallback algoritmasına geçer.</a:t>
            </a:r>
            <a:endParaRPr lang="en-US" sz="1050" dirty="0"/>
          </a:p>
        </p:txBody>
      </p:sp>
      <p:sp>
        <p:nvSpPr>
          <p:cNvPr id="113" name="Text 9">
            <a:extLst>
              <a:ext uri="{FF2B5EF4-FFF2-40B4-BE49-F238E27FC236}">
                <a16:creationId xmlns:a16="http://schemas.microsoft.com/office/drawing/2014/main" id="{85968EDB-567D-0D9D-92BB-87165A7E2A91}"/>
              </a:ext>
            </a:extLst>
          </p:cNvPr>
          <p:cNvSpPr/>
          <p:nvPr/>
        </p:nvSpPr>
        <p:spPr>
          <a:xfrm>
            <a:off x="1680464" y="1549255"/>
            <a:ext cx="1645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 9">
            <a:extLst>
              <a:ext uri="{FF2B5EF4-FFF2-40B4-BE49-F238E27FC236}">
                <a16:creationId xmlns:a16="http://schemas.microsoft.com/office/drawing/2014/main" id="{0B550B24-0A42-E4EB-CB3D-C13DFEBE1B3C}"/>
              </a:ext>
            </a:extLst>
          </p:cNvPr>
          <p:cNvSpPr/>
          <p:nvPr/>
        </p:nvSpPr>
        <p:spPr>
          <a:xfrm>
            <a:off x="3092704" y="1549255"/>
            <a:ext cx="1645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 9">
            <a:extLst>
              <a:ext uri="{FF2B5EF4-FFF2-40B4-BE49-F238E27FC236}">
                <a16:creationId xmlns:a16="http://schemas.microsoft.com/office/drawing/2014/main" id="{6B800AE0-DC7E-6C96-5B74-46B09482AC93}"/>
              </a:ext>
            </a:extLst>
          </p:cNvPr>
          <p:cNvSpPr/>
          <p:nvPr/>
        </p:nvSpPr>
        <p:spPr>
          <a:xfrm>
            <a:off x="4502912" y="1544610"/>
            <a:ext cx="1645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9">
            <a:extLst>
              <a:ext uri="{FF2B5EF4-FFF2-40B4-BE49-F238E27FC236}">
                <a16:creationId xmlns:a16="http://schemas.microsoft.com/office/drawing/2014/main" id="{49A62D3D-0607-7B6A-6295-817D6E7DC08A}"/>
              </a:ext>
            </a:extLst>
          </p:cNvPr>
          <p:cNvSpPr/>
          <p:nvPr/>
        </p:nvSpPr>
        <p:spPr>
          <a:xfrm>
            <a:off x="5907024" y="1550525"/>
            <a:ext cx="1645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ext 9">
            <a:extLst>
              <a:ext uri="{FF2B5EF4-FFF2-40B4-BE49-F238E27FC236}">
                <a16:creationId xmlns:a16="http://schemas.microsoft.com/office/drawing/2014/main" id="{329361FD-35AF-FF39-14E8-31A390C46B3A}"/>
              </a:ext>
            </a:extLst>
          </p:cNvPr>
          <p:cNvSpPr/>
          <p:nvPr/>
        </p:nvSpPr>
        <p:spPr>
          <a:xfrm>
            <a:off x="7311136" y="1544610"/>
            <a:ext cx="1645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Yığını ve Veritabanı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35240" y="16459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TEKNOLOJİ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536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896112"/>
            <a:ext cx="530352" cy="530352"/>
          </a:xfrm>
          <a:prstGeom prst="ellipse">
            <a:avLst/>
          </a:prstGeom>
          <a:solidFill>
            <a:srgbClr val="1B6CA8">
              <a:alpha val="88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896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🐍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50876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 Dil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57400" y="749808"/>
            <a:ext cx="1536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896112"/>
            <a:ext cx="530352" cy="530352"/>
          </a:xfrm>
          <a:prstGeom prst="ellipse">
            <a:avLst/>
          </a:prstGeom>
          <a:solidFill>
            <a:srgbClr val="E74C3C">
              <a:alpha val="8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896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30552" y="150876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30552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Web Arayüzü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49040" y="749808"/>
            <a:ext cx="1536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896112"/>
            <a:ext cx="530352" cy="530352"/>
          </a:xfrm>
          <a:prstGeom prst="ellipse">
            <a:avLst/>
          </a:prstGeom>
          <a:solidFill>
            <a:srgbClr val="F39C12">
              <a:alpha val="88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896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🗄️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22192" y="150876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22192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40680" y="749808"/>
            <a:ext cx="1536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896112"/>
            <a:ext cx="530352" cy="530352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896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🤖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13832" y="150876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513832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Yapay Zeka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32320" y="749808"/>
            <a:ext cx="1536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35240" y="896112"/>
            <a:ext cx="530352" cy="530352"/>
          </a:xfrm>
          <a:prstGeom prst="ellipse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896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📈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05472" y="150876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Pandas/Plotly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05472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Analiz/Görsel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" y="2395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21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Tasarımı (ER Diyagramı)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28346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83464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65760" y="3364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👤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6C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 alan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" y="422452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Yararlanıcı kimlik,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sosyo-ekonomik ve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sağlık bilgileri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83280" y="28346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83280" y="283464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383280" y="3364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📦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383280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alan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566160" y="422452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kayıtları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(2 Foreign Key ile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ilişkilendirilmiş)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00800" y="28346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0" y="283464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00800" y="3364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🗄️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00800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alan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583680" y="422452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Stok kalemleri ve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güncel miktar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bilgileri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926080" y="38862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38862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07792" y="3703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1:N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035040" y="3703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1:N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Entegrasyonu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64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YAPAY ZEKA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023360" cy="416052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961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Ağırlıklı Puanlama Modeli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(Gelir×0.35) + (Sağlık×0.30)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(Aile×0.25) + (Bölge×0.10)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EF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39" y="2057400"/>
            <a:ext cx="1047931" cy="530352"/>
          </a:xfrm>
          <a:prstGeom prst="roundRect">
            <a:avLst>
              <a:gd name="adj" fmla="val 13793"/>
            </a:avLst>
          </a:prstGeom>
          <a:solidFill>
            <a:srgbClr val="1B6CA8">
              <a:alpha val="25000"/>
            </a:srgbClr>
          </a:solidFill>
          <a:ln w="12700">
            <a:solidFill>
              <a:srgbClr val="1B6CA8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85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 Düzeyi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218541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35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EF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15768"/>
            <a:ext cx="914400" cy="530352"/>
          </a:xfrm>
          <a:prstGeom prst="roundRect">
            <a:avLst>
              <a:gd name="adj" fmla="val 13793"/>
            </a:avLst>
          </a:prstGeom>
          <a:solidFill>
            <a:srgbClr val="E74C3C">
              <a:alpha val="25000"/>
            </a:srgbClr>
          </a:solidFill>
          <a:ln w="12700">
            <a:solidFill>
              <a:srgbClr val="E74C3C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Durumu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284378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30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EF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74136"/>
            <a:ext cx="764903" cy="530352"/>
          </a:xfrm>
          <a:prstGeom prst="roundRect">
            <a:avLst>
              <a:gd name="adj" fmla="val 13793"/>
            </a:avLst>
          </a:prstGeom>
          <a:solidFill>
            <a:srgbClr val="F39C12">
              <a:alpha val="25000"/>
            </a:srgbClr>
          </a:solidFill>
          <a:ln w="12700">
            <a:solidFill>
              <a:srgbClr val="F39C12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02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Büyüklüğü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35021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25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EF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452846" cy="530352"/>
          </a:xfrm>
          <a:prstGeom prst="roundRect">
            <a:avLst>
              <a:gd name="adj" fmla="val 13793"/>
            </a:avLst>
          </a:prstGeom>
          <a:solidFill>
            <a:srgbClr val="27AE60">
              <a:alpha val="25000"/>
            </a:srgbClr>
          </a:solidFill>
          <a:ln w="12700">
            <a:solidFill>
              <a:srgbClr val="27AE60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Bölgesel Risk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41605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10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749808"/>
            <a:ext cx="40233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8961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API Entegrasyonu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37760" y="13533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Yararlanıcı profili analiz edilerek denetçiye doğal dilde karar destek çıktısı üretilmektedir.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Yüksek Öncelik   🟡 Orta Öncelik   🟢 Düşük Öncelik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4023360" cy="2075688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29809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Smart Fallback Modu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343814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erişimi olmadığında sistem yerel heuristic tabanlı algoritmalar ile kesintisiz çalışmaya devam etmektedir.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Kesintisiz çalışabilirlik garantisi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Ekran Görüntüleri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Panel ·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18120" y="16459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DEMO 1/4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534924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img/ana_panel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5166360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06440" y="86868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61888" y="1024128"/>
            <a:ext cx="420624" cy="420624"/>
          </a:xfrm>
          <a:prstGeom prst="ellipse">
            <a:avLst/>
          </a:prstGeom>
          <a:solidFill>
            <a:srgbClr val="1B6CA8">
              <a:alpha val="87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61888" y="1024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◆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97840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Genel Bakış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127101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sistem verileri tek ekranda özetlenir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06440" y="187452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61888" y="2029968"/>
            <a:ext cx="420624" cy="420624"/>
          </a:xfrm>
          <a:prstGeom prst="ellipse">
            <a:avLst/>
          </a:prstGeom>
          <a:solidFill>
            <a:srgbClr val="F39C12">
              <a:alpha val="87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92240" y="19842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Durum Takibi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227685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İncelemede, Onaylandı, Reddedildi, Dağıtıldı — renk kodlu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06440" y="288036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61888" y="3035808"/>
            <a:ext cx="420624" cy="420624"/>
          </a:xfrm>
          <a:prstGeom prst="ellipse">
            <a:avLst/>
          </a:prstGeom>
          <a:solidFill>
            <a:srgbClr val="0D9488">
              <a:alpha val="87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61888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▲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92240" y="29900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Sıralaması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328269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kritik vakalar skor bazlı otomatik öne çıkar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06440" y="38862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3977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sisteme girer girmez kritik vakaları ve genel durumu tek bakışta görür.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Ekran Görüntüleri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Yararlanıcı Yönetimi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18120" y="16459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DEMO 3/4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507492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img/yararlanic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892040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86868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3288" y="1024128"/>
            <a:ext cx="420624" cy="420624"/>
          </a:xfrm>
          <a:prstGeom prst="ellipse">
            <a:avLst/>
          </a:prstGeom>
          <a:solidFill>
            <a:srgbClr val="1B6CA8">
              <a:alpha val="87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33288" y="1024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◆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263640" y="978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Filtreleme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12710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Sağlık, bölge ve duruma göre anlık filtreleme yapılabilir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19659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33288" y="2121408"/>
            <a:ext cx="420624" cy="420624"/>
          </a:xfrm>
          <a:prstGeom prst="ellipse">
            <a:avLst/>
          </a:prstGeom>
          <a:solidFill>
            <a:srgbClr val="0D9488">
              <a:alpha val="87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33288" y="2121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</a:rPr>
              <a:t>✓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263640" y="20756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Farklı Veri Girişi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23682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giriş, Excel/CSV yükleme veya harici DB senkronizasyonu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306324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33288" y="3218688"/>
            <a:ext cx="420624" cy="420624"/>
          </a:xfrm>
          <a:prstGeom prst="ellipse">
            <a:avLst/>
          </a:prstGeom>
          <a:solidFill>
            <a:srgbClr val="8B5CF6">
              <a:alpha val="8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33288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▲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263640" y="3172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Detaylı Profil Tablosu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63640" y="34655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Skor, durum ve beyan edilen ihtiyaç tek tabloda görüntülenir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77840" y="4069080"/>
            <a:ext cx="3246120" cy="868680"/>
          </a:xfrm>
          <a:prstGeom prst="roundRect">
            <a:avLst>
              <a:gd name="adj" fmla="val 10526"/>
            </a:avLst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414223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 veri girişi, sistemin farklı saha koşullarına uyarlanabilirliğini sağlar.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Ekran Görüntüleri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 Paneli · Yapay Zeka Destekli Karar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18120" y="16459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DEMO 2/4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6052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img/denetc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3977640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17720" y="8686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3168" y="996696"/>
            <a:ext cx="384048" cy="384048"/>
          </a:xfrm>
          <a:prstGeom prst="ellipse">
            <a:avLst/>
          </a:prstGeom>
          <a:solidFill>
            <a:srgbClr val="1B6CA8">
              <a:alpha val="87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996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6CA8"/>
                </a:solidFill>
              </a:rPr>
              <a:t>◆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266944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Algoritmik Skor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66944" y="12344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puanlama modeli 0–100 arası nesnel skor üretir (87.5/100)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17830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73168" y="1911096"/>
            <a:ext cx="384048" cy="384048"/>
          </a:xfrm>
          <a:prstGeom prst="ellipse">
            <a:avLst/>
          </a:prstGeom>
          <a:solidFill>
            <a:srgbClr val="0D9488">
              <a:alpha val="87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1911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</a:rPr>
              <a:t>●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66944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Yorumu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66944" y="2148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API, skoru doğal dilde açıklayarak öncelik gerekçesini sunar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17720" y="26974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73168" y="2825496"/>
            <a:ext cx="384048" cy="384048"/>
          </a:xfrm>
          <a:prstGeom prst="ellipse">
            <a:avLst/>
          </a:prstGeom>
          <a:solidFill>
            <a:srgbClr val="8B5CF6">
              <a:alpha val="8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</a:rPr>
              <a:t>✓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266944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Denetimi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66944" y="3063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Denetçi, AI önerisini onaylar veya gerekçeyle reddedebilir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17720" y="36118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73168" y="3739896"/>
            <a:ext cx="384048" cy="384048"/>
          </a:xfrm>
          <a:prstGeom prst="ellipse">
            <a:avLst/>
          </a:prstGeom>
          <a:solidFill>
            <a:srgbClr val="F39C12">
              <a:alpha val="87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73168" y="3739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9C12"/>
                </a:solidFill>
              </a:rPr>
              <a:t>↻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5266944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Değerlendirme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66944" y="3977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Reddedilen başvurular gerekçeyle yeniden incelemeye alınabilir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Ekran Görüntüleri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Kayıtları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18120" y="16459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DEMO 4/4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5074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img/dagiti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892040" cy="3063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425196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2976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Khalil onaylı kategorisi 'Tıbbi' — sistem otomatik 'Tıbbi Kit' önerdi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86868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33288" y="1024128"/>
            <a:ext cx="420624" cy="420624"/>
          </a:xfrm>
          <a:prstGeom prst="ellipse">
            <a:avLst/>
          </a:prstGeom>
          <a:solidFill>
            <a:srgbClr val="E74C3C">
              <a:alpha val="87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33288" y="1024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</a:rPr>
              <a:t>■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263640" y="978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Kuralı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12710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onaylı yararlanıcılar listelenir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187452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33288" y="2029968"/>
            <a:ext cx="420624" cy="420624"/>
          </a:xfrm>
          <a:prstGeom prst="ellipse">
            <a:avLst/>
          </a:prstGeom>
          <a:solidFill>
            <a:srgbClr val="F39C12">
              <a:alpha val="87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33288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</a:rPr>
              <a:t>◆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263640" y="19842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Eşleştirme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22768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Onaylanan ihtiyaç kategorisi, ürün olarak otomatik önerilir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288036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33288" y="3035808"/>
            <a:ext cx="420624" cy="420624"/>
          </a:xfrm>
          <a:prstGeom prst="ellipse">
            <a:avLst/>
          </a:prstGeom>
          <a:solidFill>
            <a:srgbClr val="27AE60">
              <a:alpha val="87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33288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263640" y="2990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İzlenebilirlik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3282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dağıtım tarih ve miktarla kayıt altına alınır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77840" y="388620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3959352"/>
            <a:ext cx="2880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Sistem, başvurudan dağıtıma kadar tüm süreci uçtan uca tamamlamış olur.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Sonuçları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64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TEST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68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Senaryosu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49808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868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00400" y="1536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Başarılı Sonuç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749808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868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35040" y="1536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Tümü Başarılı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2377440"/>
            <a:ext cx="502920" cy="502920"/>
          </a:xfrm>
          <a:prstGeom prst="ellipse">
            <a:avLst/>
          </a:prstGeom>
          <a:solidFill>
            <a:srgbClr val="1B6CA8">
              <a:alpha val="87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0352" y="2971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Fonksiyonel Testler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584448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520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Yararlanıcı kaydı ve eksik alan kontrolü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044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 onay / red işlemleri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2885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ve stok kısıtlaması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212848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64992" y="2377440"/>
            <a:ext cx="502920" cy="502920"/>
          </a:xfrm>
          <a:prstGeom prst="ellipse">
            <a:avLst/>
          </a:prstGeom>
          <a:solidFill>
            <a:srgbClr val="F39C12">
              <a:alpha val="87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64992" y="2971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ve Güvenlik Testleri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83280" y="3584448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3520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bütünlüğü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968496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39044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senkronizasyonu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435254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42885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Onaysız dağıtım engelleme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2212848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9632" y="2377440"/>
            <a:ext cx="502920" cy="502920"/>
          </a:xfrm>
          <a:prstGeom prst="ellipse">
            <a:avLst/>
          </a:prstGeom>
          <a:solidFill>
            <a:srgbClr val="8B5CF6">
              <a:alpha val="8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199632" y="2971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ve Mantık Testleri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358444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3520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algoritması doğruluğu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96849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39044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analizi üretimi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435254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42885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Fallback modu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Zorluklar ve Çözümler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35240" y="16459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ZORLUKLAR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41832"/>
            <a:ext cx="384048" cy="384048"/>
          </a:xfrm>
          <a:prstGeom prst="ellipse">
            <a:avLst/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41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</a:rPr>
              <a:t>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9418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Erişim Kesintileri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3075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API'ye erişilemeyen durumlarda sistem işlevsiz kalabiliyordu.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41832"/>
            <a:ext cx="384048" cy="384048"/>
          </a:xfrm>
          <a:prstGeom prst="ellipse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41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7AE60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9418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Fallback Mekanizması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075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heuristic algoritmalar geliştirildi. API yoksa otomatik devreye girer.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</a:rPr>
              <a:t>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3317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Yeniden Yükleme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etkileşimde sayfa yenilenmesi form verilerini ve mesajları kaybettiriyordu.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19456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331720"/>
            <a:ext cx="384048" cy="384048"/>
          </a:xfrm>
          <a:prstGeom prst="ellipse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7AE60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23317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Yönetimi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6974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 ile başarı mesajları ve veriler oturum boyunca korundu.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</a:rPr>
              <a:t>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372160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FK Bütünlüğü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08736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Geçersiz dağıtım kayıtları oluşabilir, referans tutarsızlıkları yaşanabilirdi.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844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721608"/>
            <a:ext cx="384048" cy="384048"/>
          </a:xfrm>
          <a:prstGeom prst="ellipse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7AE60"/>
                </a:solidFill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372160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Kısıtlamaları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08736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FK constraints etkinleştirilerek referans bütünlüğü güvence altına alındı.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ve Gelecek Çalışmalar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35240" y="16459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SONUÇ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402336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Kazanımlar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627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fonksiyonel gereksinimler karşılandı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4825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test senaryosu başarıyla tamamlandı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487168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4688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insan denetimi entegrasyonu sağlandı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907792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88950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Kesintisiz çalışabilirlik (Smart Fallback)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328416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31012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 ve denetlenebilir iş akışı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24128"/>
            <a:ext cx="402336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Gelecek Çalışmalar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1645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 Uygulama Desteği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0116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Kullanıcı Girişi ve Kimlik Doğrulama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3774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Bağış ve Gönüllü Yönetimi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743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Gelişmiş Yapay Zeka Modelleri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1089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Çevrimdışı Çalışma Desteği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474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Çok Dilli Arayüz Desteği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GitHub: </a:t>
            </a:r>
            <a:r>
              <a:rPr lang="en-US" sz="14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github.com/BushraBUSTANI/aid-management-system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DA45793-3F02-80A2-CC71-229BBA0E39E5}"/>
              </a:ext>
            </a:extLst>
          </p:cNvPr>
          <p:cNvGrpSpPr/>
          <p:nvPr/>
        </p:nvGrpSpPr>
        <p:grpSpPr>
          <a:xfrm>
            <a:off x="914400" y="-914400"/>
            <a:ext cx="10058400" cy="6858000"/>
            <a:chOff x="914400" y="-914400"/>
            <a:chExt cx="10058400" cy="6858000"/>
          </a:xfrm>
        </p:grpSpPr>
        <p:sp>
          <p:nvSpPr>
            <p:cNvPr id="5" name="Text 3"/>
            <p:cNvSpPr/>
            <p:nvPr/>
          </p:nvSpPr>
          <p:spPr>
            <a:xfrm>
              <a:off x="914400" y="1371600"/>
              <a:ext cx="7315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Teşekkürler</a:t>
              </a:r>
              <a:endParaRPr lang="en-US" sz="4400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936087C-E944-C1DD-2111-9B17FE583A38}"/>
                </a:ext>
              </a:extLst>
            </p:cNvPr>
            <p:cNvGrpSpPr/>
            <p:nvPr/>
          </p:nvGrpSpPr>
          <p:grpSpPr>
            <a:xfrm>
              <a:off x="914400" y="-914400"/>
              <a:ext cx="10058400" cy="6858000"/>
              <a:chOff x="914400" y="-914400"/>
              <a:chExt cx="10058400" cy="6858000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5943600" y="-914400"/>
                <a:ext cx="5029200" cy="5029200"/>
              </a:xfrm>
              <a:prstGeom prst="ellipse">
                <a:avLst/>
              </a:prstGeom>
              <a:solidFill>
                <a:srgbClr val="1B6CA8">
                  <a:alpha val="15000"/>
                </a:srgbClr>
              </a:solidFill>
              <a:ln w="12700">
                <a:solidFill>
                  <a:srgbClr val="1B6CA8">
                    <a:alpha val="15000"/>
                  </a:srgbClr>
                </a:solidFill>
                <a:prstDash val="solid"/>
              </a:ln>
            </p:spPr>
          </p:sp>
          <p:sp>
            <p:nvSpPr>
              <p:cNvPr id="3" name="Shape 1"/>
              <p:cNvSpPr/>
              <p:nvPr/>
            </p:nvSpPr>
            <p:spPr>
              <a:xfrm>
                <a:off x="6858000" y="2743200"/>
                <a:ext cx="3200400" cy="3200400"/>
              </a:xfrm>
              <a:prstGeom prst="ellipse">
                <a:avLst/>
              </a:prstGeom>
              <a:solidFill>
                <a:srgbClr val="0D9488">
                  <a:alpha val="12000"/>
                </a:srgbClr>
              </a:solidFill>
              <a:ln w="12700">
                <a:solidFill>
                  <a:srgbClr val="0D9488">
                    <a:alpha val="12000"/>
                  </a:srgbClr>
                </a:solidFill>
                <a:prstDash val="solid"/>
              </a:ln>
            </p:spPr>
          </p:sp>
          <p:sp>
            <p:nvSpPr>
              <p:cNvPr id="4" name="Text 2"/>
              <p:cNvSpPr/>
              <p:nvPr/>
            </p:nvSpPr>
            <p:spPr>
              <a:xfrm>
                <a:off x="3200400" y="274320"/>
                <a:ext cx="27432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5200" dirty="0">
                    <a:solidFill>
                      <a:srgbClr val="000000"/>
                    </a:solidFill>
                  </a:rPr>
                  <a:t>🤝</a:t>
                </a:r>
                <a:endParaRPr lang="en-US" sz="5200" dirty="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914400" y="2240280"/>
                <a:ext cx="731520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i="1" dirty="0">
                    <a:solidFill>
                      <a:srgbClr val="93C5F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Sorularınızı bekliyorum.</a:t>
                </a:r>
                <a:endParaRPr lang="en-US" sz="1600" dirty="0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2286000" y="2816352"/>
                <a:ext cx="4572000" cy="0"/>
              </a:xfrm>
              <a:prstGeom prst="line">
                <a:avLst/>
              </a:prstGeom>
              <a:noFill/>
              <a:ln w="12700">
                <a:solidFill>
                  <a:srgbClr val="334155"/>
                </a:solidFill>
                <a:prstDash val="solid"/>
              </a:ln>
            </p:spPr>
          </p:sp>
          <p:sp>
            <p:nvSpPr>
              <p:cNvPr id="8" name="Text 6"/>
              <p:cNvSpPr/>
              <p:nvPr/>
            </p:nvSpPr>
            <p:spPr>
              <a:xfrm>
                <a:off x="914400" y="2926080"/>
                <a:ext cx="731520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93C5F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Bushra BUSTANI  ·  170419929</a:t>
                </a:r>
                <a:endParaRPr lang="en-US" sz="11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914400" y="3273552"/>
                <a:ext cx="731520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5B7F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Danışman: Prof. Dr. Ali BULDU</a:t>
                </a:r>
                <a:endParaRPr lang="en-US" sz="105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914400" y="3611880"/>
                <a:ext cx="73152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Marmara Üniversitesi  ·  Bilgisayar Mühendisliği  ·  2026</a:t>
                </a:r>
                <a:endParaRPr lang="en-US" sz="950" dirty="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3500</TotalTime>
  <Words>1124</Words>
  <Application>Microsoft Office PowerPoint</Application>
  <PresentationFormat>On-screen Show (16:9)</PresentationFormat>
  <Paragraphs>343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Destekli İnsani Yardım Yönetim Sistemi</dc:title>
  <dc:subject>PptxGenJS Presentation</dc:subject>
  <dc:creator>Bushra BUSTANI</dc:creator>
  <cp:lastModifiedBy>Bushra Bustani</cp:lastModifiedBy>
  <cp:revision>2</cp:revision>
  <dcterms:created xsi:type="dcterms:W3CDTF">2026-06-19T05:36:18Z</dcterms:created>
  <dcterms:modified xsi:type="dcterms:W3CDTF">2026-06-22T14:47:31Z</dcterms:modified>
</cp:coreProperties>
</file>